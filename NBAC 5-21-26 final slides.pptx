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5" r:id="rId5"/>
  </p:sldMasterIdLst>
  <p:notesMasterIdLst>
    <p:notesMasterId r:id="rId21"/>
  </p:notesMasterIdLst>
  <p:sldIdLst>
    <p:sldId id="336" r:id="rId6"/>
    <p:sldId id="141170256" r:id="rId7"/>
    <p:sldId id="141169885" r:id="rId8"/>
    <p:sldId id="141170056" r:id="rId9"/>
    <p:sldId id="141170052" r:id="rId10"/>
    <p:sldId id="141170077" r:id="rId11"/>
    <p:sldId id="141170079" r:id="rId12"/>
    <p:sldId id="256" r:id="rId13"/>
    <p:sldId id="257" r:id="rId14"/>
    <p:sldId id="1881839137" r:id="rId15"/>
    <p:sldId id="1881839136" r:id="rId16"/>
    <p:sldId id="141170068" r:id="rId17"/>
    <p:sldId id="141170274" r:id="rId18"/>
    <p:sldId id="141170273" r:id="rId19"/>
    <p:sldId id="141170072" r:id="rId20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813033-10E4-8456-B3FD-586C69E866DE}" name="Beach III, Aubrey [USA]" initials="BIA[" userId="S::565007@bah.com::c123daf4-408e-47a9-8d53-fc8843d726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4282"/>
    <a:srgbClr val="004486"/>
    <a:srgbClr val="004283"/>
    <a:srgbClr val="E8EEF4"/>
    <a:srgbClr val="004383"/>
    <a:srgbClr val="334052"/>
    <a:srgbClr val="005170"/>
    <a:srgbClr val="EE7E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83" autoAdjust="0"/>
    <p:restoredTop sz="80424" autoAdjust="0"/>
  </p:normalViewPr>
  <p:slideViewPr>
    <p:cSldViewPr snapToGrid="0">
      <p:cViewPr varScale="1">
        <p:scale>
          <a:sx n="112" d="100"/>
          <a:sy n="112" d="100"/>
        </p:scale>
        <p:origin x="28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586B9D10-7BCD-425C-9CA6-F5333486AD73}" type="datetimeFigureOut">
              <a:rPr lang="en-US" smtClean="0"/>
              <a:t>5/23/26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5F8897AF-D04E-4367-BADA-11FF3D514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7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</a:t>
            </a:r>
            <a:r>
              <a:rPr lang="en-US"/>
              <a:t>– Introduction.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64149">
              <a:defRPr/>
            </a:pPr>
            <a:fld id="{0B22E215-D3C6-D84F-8ECF-5127C8518219}" type="slidenum">
              <a:rPr lang="en-US">
                <a:solidFill>
                  <a:prstClr val="black"/>
                </a:solidFill>
                <a:latin typeface="Calibri"/>
              </a:rPr>
              <a:pPr defTabSz="464149"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3106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28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897AF-D04E-4367-BADA-11FF3D514E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60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look at a basic example of the </a:t>
            </a:r>
            <a:r>
              <a:rPr lang="en-US" dirty="0" err="1"/>
              <a:t>NIEMOpen</a:t>
            </a:r>
            <a:r>
              <a:rPr lang="en-US" dirty="0"/>
              <a:t> core and the </a:t>
            </a:r>
            <a:r>
              <a:rPr lang="en-US" dirty="0" err="1"/>
              <a:t>NIEMOpen</a:t>
            </a:r>
            <a:r>
              <a:rPr lang="en-US" dirty="0"/>
              <a:t> domain relationship.</a:t>
            </a:r>
          </a:p>
          <a:p>
            <a:endParaRPr lang="en-US" dirty="0"/>
          </a:p>
          <a:p>
            <a:r>
              <a:rPr lang="en-US" dirty="0"/>
              <a:t>All domains would agree that a person has a name and date of birth—commonly agreed-upon characteristics of a person. </a:t>
            </a:r>
          </a:p>
          <a:p>
            <a:endParaRPr lang="en-US" dirty="0"/>
          </a:p>
          <a:p>
            <a:r>
              <a:rPr lang="en-US" dirty="0"/>
              <a:t>Some communities have a business need to extend the definition of a person based on their information exchange requirements. For example, within the Justice community, they need the flexibility to extend Person to capture additional information of a Subject, who may be involved or suspected of being involved in an incident or criminal activity. In addition, a name and date of birth are not sufficient to identify a Subject.  They also may require biometric identifiers such as fingerprints, scars, or tattoos to verify their identity. </a:t>
            </a:r>
          </a:p>
          <a:p>
            <a:endParaRPr lang="en-US" dirty="0"/>
          </a:p>
          <a:p>
            <a:r>
              <a:rPr lang="en-US" dirty="0"/>
              <a:t>Another commonly used core element is Activity. For example, the Cyber Domain may need to extend Incident such as a breach event to include additional identifiers such as IP Address or Type to create context.</a:t>
            </a:r>
          </a:p>
          <a:p>
            <a:pPr>
              <a:spcAft>
                <a:spcPts val="637"/>
              </a:spcAft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701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928555-8587-4C3F-84D1-7D1BCAC02DD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701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18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563306958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25633069588_2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174969" lvl="0" indent="-9876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solidFill>
                <a:srgbClr val="333333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" name="Google Shape;204;g25633069588_2_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2954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1E2E-65EF-3119-BD33-FD85F6187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45466-F2B2-D954-326C-7DA0F9E02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1F6DF-A5E3-3E03-E4A7-52F06B08D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564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08BE-4C96-83F0-F348-296C4F5D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75254-5ABA-F60A-E1D0-603181C97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91310-B60A-3249-8B21-28EAFB03C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261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 strategies to date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Ukraine has not tested or integrated NATO approach but continues to rely on operator interpretation of raw data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NATO is still finalizing adoption of C-UAS standard (STANAG 4315) with partner countries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 Army is implementing the UK-DoD approach at the Corp unit level for C-UAS vendor purchases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DHS has separate implementation approach with Federal partners and States Grant money for States to implement C-UAS solutions is in 2026 and 2027 budget </a:t>
            </a:r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2E215-D3C6-D84F-8ECF-5127C851821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86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7CDE4-C259-E8C6-2331-2AD05582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DD8E-DFE4-740C-AF42-7B00FAAAB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A5002-E4AA-7C77-1454-11F000E8C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0093" indent="-290093">
              <a:buFont typeface="Arial" panose="020B0604020202020204" pitchFamily="34" charset="0"/>
              <a:buChar char="•"/>
            </a:pPr>
            <a:r>
              <a:rPr lang="en-US" dirty="0"/>
              <a:t>Another point to highlight</a:t>
            </a:r>
            <a:r>
              <a:rPr lang="en-US" baseline="0" dirty="0"/>
              <a:t> is that you may be using </a:t>
            </a:r>
            <a:r>
              <a:rPr lang="en-US" baseline="0" dirty="0" err="1"/>
              <a:t>NIEMOpen</a:t>
            </a:r>
            <a:r>
              <a:rPr lang="en-US" baseline="0" dirty="0"/>
              <a:t> and not even know it. </a:t>
            </a:r>
          </a:p>
          <a:p>
            <a:pPr marL="290093" indent="-290093">
              <a:buFont typeface="Arial" panose="020B0604020202020204" pitchFamily="34" charset="0"/>
              <a:buChar char="•"/>
            </a:pPr>
            <a:r>
              <a:rPr lang="en-US" baseline="0" dirty="0" err="1"/>
              <a:t>NIEMOpen</a:t>
            </a:r>
            <a:r>
              <a:rPr lang="en-US" baseline="0" dirty="0"/>
              <a:t> has been incorporated and leveraged by several other industry standards as identified on this slide. If you are currently using any of these standards, you are technically using </a:t>
            </a:r>
            <a:r>
              <a:rPr lang="en-US" baseline="0" dirty="0" err="1"/>
              <a:t>NIEMOpen</a:t>
            </a:r>
            <a:r>
              <a:rPr lang="en-US" baseline="0" dirty="0"/>
              <a:t> as well.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60694-AED4-1587-F16E-BF0DF3F04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2E215-D3C6-D84F-8ECF-5127C851821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807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73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897AF-D04E-4367-BADA-11FF3D514E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31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998134" y="4621161"/>
            <a:ext cx="8195733" cy="838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800" baseline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defRPr>
            </a:lvl1pPr>
          </a:lstStyle>
          <a:p>
            <a:r>
              <a:rPr lang="en-US" dirty="0"/>
              <a:t>Title Master</a:t>
            </a:r>
          </a:p>
        </p:txBody>
      </p:sp>
    </p:spTree>
    <p:extLst>
      <p:ext uri="{BB962C8B-B14F-4D97-AF65-F5344CB8AC3E}">
        <p14:creationId xmlns:p14="http://schemas.microsoft.com/office/powerpoint/2010/main" val="147117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34" y="2895600"/>
            <a:ext cx="8195733" cy="83820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255888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0C4BB1B-EDC4-483F-B0EA-E14D2B3E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06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3326"/>
            <a:ext cx="10363200" cy="9810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94100"/>
            <a:ext cx="8534400" cy="495300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95B0B3-2BEF-4C03-8782-98158BE48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4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3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41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7F37-EB3F-4912-8B16-22DE781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90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25339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5D7F9B5-CC5A-4ABE-8117-CC02371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03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400" b="1" cap="none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061D5B3-FA26-4D91-B231-F26ED369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2145652"/>
            <a:ext cx="10786533" cy="3709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614A661-166B-4DF4-B43E-98FAF9246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86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E8FD-9C4B-40B0-8F9D-B59F0334C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03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C3D0DD-51B8-4695-B3D8-900778AC7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287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984" y="274638"/>
            <a:ext cx="10972800" cy="8683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ts val="3200"/>
              </a:lnSpc>
              <a:defRPr lang="en-US" sz="2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11984" y="1275673"/>
            <a:ext cx="109728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Aft>
                <a:spcPts val="600"/>
              </a:spcAft>
              <a:defRPr lang="en-US" smtClean="0"/>
            </a:lvl1pPr>
            <a:lvl2pPr>
              <a:spcAft>
                <a:spcPts val="600"/>
              </a:spcAft>
              <a:defRPr lang="en-US" smtClean="0"/>
            </a:lvl2pPr>
            <a:lvl3pPr>
              <a:spcAft>
                <a:spcPts val="600"/>
              </a:spcAft>
              <a:defRPr lang="en-US" smtClean="0"/>
            </a:lvl3pPr>
            <a:lvl4pPr marL="1027113" indent="-280988">
              <a:buClr>
                <a:schemeClr val="tx2"/>
              </a:buClr>
              <a:defRPr lang="en-US" smtClean="0"/>
            </a:lvl4pPr>
            <a:lvl5pPr marL="1319213" indent="-228600">
              <a:buClr>
                <a:schemeClr val="tx2"/>
              </a:buClr>
              <a:buSzPct val="60000"/>
              <a:buFont typeface="Wingdings" pitchFamily="2" charset="2"/>
              <a:buChar char="q"/>
              <a:tabLst/>
              <a:defRPr lang="en-US" smtClean="0"/>
            </a:lvl5pPr>
            <a:lvl6pPr marL="1608138" indent="-228600">
              <a:buClr>
                <a:schemeClr val="tx2"/>
              </a:buClr>
              <a:buFont typeface="Helvetica LT Std" pitchFamily="34" charset="0"/>
              <a:buChar char="–"/>
              <a:tabLst/>
              <a:defRPr lang="en-US" smtClean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84D26D8-2F78-40FF-B773-6EE7921D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862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5DCA139-0762-4C4F-B386-FBEA85E5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101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1491804"/>
            <a:ext cx="10786533" cy="4362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428502-7FEB-4856-821A-092C4551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782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982C6D7-0CD6-43C6-B16D-2D387D380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450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15600" y="101428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800"/>
              <a:buFont typeface="Open Sans"/>
              <a:buNone/>
              <a:defRPr sz="3600" b="1">
                <a:solidFill>
                  <a:srgbClr val="004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15600" y="1826922"/>
            <a:ext cx="11360800" cy="415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9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63ED-5365-0347-943C-46237B9951C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D53F-9797-B141-B5E7-AB9CB133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7714" y="6400800"/>
            <a:ext cx="6676572" cy="182880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8645891-6D11-5C16-6282-CD626231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371600"/>
            <a:ext cx="1133856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2pPr>
              <a:lnSpc>
                <a:spcPts val="2000"/>
              </a:lnSpc>
              <a:defRPr sz="1800"/>
            </a:lvl2pPr>
            <a:lvl4pPr marL="914400" indent="-173038">
              <a:defRPr/>
            </a:lvl4pPr>
            <a:lvl5pPr marL="1033463" indent="-12382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832E369-52F0-D331-A851-630C3250AC9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69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" userDrawn="1">
  <p:cSld name="Presentation 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088766B-3F8D-B12C-028F-6241774A5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536" t="11810" r="5941" b="12122"/>
          <a:stretch/>
        </p:blipFill>
        <p:spPr>
          <a:xfrm>
            <a:off x="0" y="1"/>
            <a:ext cx="12192000" cy="6830007"/>
          </a:xfrm>
          <a:prstGeom prst="rect">
            <a:avLst/>
          </a:prstGeom>
        </p:spPr>
      </p:pic>
      <p:sp>
        <p:nvSpPr>
          <p:cNvPr id="38" name="Google Shape;26;p20">
            <a:extLst>
              <a:ext uri="{FF2B5EF4-FFF2-40B4-BE49-F238E27FC236}">
                <a16:creationId xmlns:a16="http://schemas.microsoft.com/office/drawing/2014/main" id="{539ADF6C-BA24-4104-C92A-9649D50C73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4316267" y="7995864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45AE4A-2925-DEBE-0625-D5EE3C099A1C}"/>
              </a:ext>
            </a:extLst>
          </p:cNvPr>
          <p:cNvSpPr/>
          <p:nvPr userDrawn="1"/>
        </p:nvSpPr>
        <p:spPr>
          <a:xfrm rot="5400000">
            <a:off x="2303047" y="-2280014"/>
            <a:ext cx="6806976" cy="11413071"/>
          </a:xfrm>
          <a:prstGeom prst="rect">
            <a:avLst/>
          </a:prstGeom>
          <a:gradFill>
            <a:gsLst>
              <a:gs pos="5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557A595-68F3-1397-079D-5F53286FCBDE}"/>
              </a:ext>
            </a:extLst>
          </p:cNvPr>
          <p:cNvSpPr/>
          <p:nvPr userDrawn="1"/>
        </p:nvSpPr>
        <p:spPr>
          <a:xfrm>
            <a:off x="-3" y="-2"/>
            <a:ext cx="12192003" cy="6806975"/>
          </a:xfrm>
          <a:prstGeom prst="rect">
            <a:avLst/>
          </a:prstGeom>
          <a:solidFill>
            <a:srgbClr val="1F497D">
              <a:alpha val="2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85262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B38E3F42-A06F-ABB8-BDE3-A6AA75E27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6748"/>
            <a:ext cx="12192000" cy="362450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9676318-E706-F4B5-8D75-69B5D909EF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8134" y="4621161"/>
            <a:ext cx="8195733" cy="838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ctr">
              <a:defRPr sz="2800" b="0" cap="none" baseline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defRPr>
            </a:lvl1pPr>
          </a:lstStyle>
          <a:p>
            <a:r>
              <a:rPr lang="en-US" dirty="0"/>
              <a:t>Title Master</a:t>
            </a:r>
          </a:p>
        </p:txBody>
      </p:sp>
    </p:spTree>
    <p:extLst>
      <p:ext uri="{BB962C8B-B14F-4D97-AF65-F5344CB8AC3E}">
        <p14:creationId xmlns:p14="http://schemas.microsoft.com/office/powerpoint/2010/main" val="3684710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B4268A2A-08D9-4EB7-800F-3189127D59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16748"/>
            <a:ext cx="12192000" cy="362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6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9634"/>
            <a:ext cx="10972800" cy="37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rgbClr val="1F497D"/>
                </a:solidFill>
              </a:rPr>
              <a:t>(#)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C4367302-18AD-44F9-B43A-24490776962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1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6" r:id="rId10"/>
    <p:sldLayoutId id="2147483695" r:id="rId11"/>
    <p:sldLayoutId id="2147483696" r:id="rId12"/>
    <p:sldLayoutId id="2147483697" r:id="rId13"/>
    <p:sldLayoutId id="2147483699" r:id="rId14"/>
    <p:sldLayoutId id="2147483700" r:id="rId15"/>
    <p:sldLayoutId id="2147483709" r:id="rId16"/>
    <p:sldLayoutId id="2147483713" r:id="rId17"/>
    <p:sldLayoutId id="2147483714" r:id="rId18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b="1" kern="1200" cap="all">
          <a:solidFill>
            <a:srgbClr val="004383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3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emopen/niem-forensic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10" Type="http://schemas.openxmlformats.org/officeDocument/2006/relationships/image" Target="../media/image22.png"/><Relationship Id="rId4" Type="http://schemas.openxmlformats.org/officeDocument/2006/relationships/image" Target="../media/image16.jpe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hyperlink" Target="https://www.niem.gov/" TargetMode="External"/><Relationship Id="rId26" Type="http://schemas.openxmlformats.org/officeDocument/2006/relationships/hyperlink" Target="https://lists.oasis-open-projects.org/g/niemopen" TargetMode="External"/><Relationship Id="rId3" Type="http://schemas.openxmlformats.org/officeDocument/2006/relationships/hyperlink" Target="https://niemopen.slack.com/?redir=%2Fgantry%2Fauth%3Fapp%3Dclient%26lc%3D1683201626%26return_to%3D%252Fclient%252FT03UDR5ANG6%252FC03ULAE89DZ%26teams%3D" TargetMode="External"/><Relationship Id="rId21" Type="http://schemas.openxmlformats.org/officeDocument/2006/relationships/hyperlink" Target="https://github.com/niemopen/ntac-admin" TargetMode="External"/><Relationship Id="rId34" Type="http://schemas.openxmlformats.org/officeDocument/2006/relationships/image" Target="../media/image29.png"/><Relationship Id="rId7" Type="http://schemas.openxmlformats.org/officeDocument/2006/relationships/image" Target="../media/image2.png"/><Relationship Id="rId12" Type="http://schemas.openxmlformats.org/officeDocument/2006/relationships/hyperlink" Target="https://twitter.com/NIEMconnects?ref_src=twsrc%5Etfw" TargetMode="External"/><Relationship Id="rId17" Type="http://schemas.openxmlformats.org/officeDocument/2006/relationships/hyperlink" Target="mailto:https://sourceforge.net/projects/niem-mep-builder/" TargetMode="External"/><Relationship Id="rId25" Type="http://schemas.openxmlformats.org/officeDocument/2006/relationships/hyperlink" Target="https://niemopen.slack.com/" TargetMode="External"/><Relationship Id="rId33" Type="http://schemas.openxmlformats.org/officeDocument/2006/relationships/hyperlink" Target="https://www.niem.gov/about-niem/message-exchange-package-mep-registry-repository" TargetMode="External"/><Relationship Id="rId2" Type="http://schemas.openxmlformats.org/officeDocument/2006/relationships/notesSlide" Target="../notesSlides/notesSlide11.xml"/><Relationship Id="rId16" Type="http://schemas.openxmlformats.org/officeDocument/2006/relationships/hyperlink" Target="https://www.youtube.com/channel/UCg9qV22PXLBjG41hc-EwVrQ" TargetMode="External"/><Relationship Id="rId20" Type="http://schemas.openxmlformats.org/officeDocument/2006/relationships/hyperlink" Target="https://wmaafip.js.mil/Account/Login?ReturnUrl=%2F" TargetMode="External"/><Relationship Id="rId29" Type="http://schemas.openxmlformats.org/officeDocument/2006/relationships/hyperlink" Target="https://lists.oasis-open-projects.org/g/niemopen-nbactsc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26.png"/><Relationship Id="rId24" Type="http://schemas.openxmlformats.org/officeDocument/2006/relationships/hyperlink" Target="https://github.com/niemopen/nmo-training" TargetMode="External"/><Relationship Id="rId32" Type="http://schemas.openxmlformats.org/officeDocument/2006/relationships/hyperlink" Target="mailto:beth.l.smalley.civ@mail.mil" TargetMode="External"/><Relationship Id="rId5" Type="http://schemas.openxmlformats.org/officeDocument/2006/relationships/hyperlink" Target="https://www.oasis-open.org/" TargetMode="External"/><Relationship Id="rId15" Type="http://schemas.openxmlformats.org/officeDocument/2006/relationships/image" Target="../media/image28.png"/><Relationship Id="rId23" Type="http://schemas.openxmlformats.org/officeDocument/2006/relationships/hyperlink" Target="https://github.com/niemopen/nmo-admin" TargetMode="External"/><Relationship Id="rId28" Type="http://schemas.openxmlformats.org/officeDocument/2006/relationships/hyperlink" Target="https://lists.oasis-open-projects.org/g/niemopen-ntactsc" TargetMode="External"/><Relationship Id="rId10" Type="http://schemas.openxmlformats.org/officeDocument/2006/relationships/hyperlink" Target="https://oasis-open.atlassian.net/wiki/spaces/NIEM/overview" TargetMode="External"/><Relationship Id="rId19" Type="http://schemas.openxmlformats.org/officeDocument/2006/relationships/hyperlink" Target="https://niemopen.org/" TargetMode="External"/><Relationship Id="rId31" Type="http://schemas.openxmlformats.org/officeDocument/2006/relationships/hyperlink" Target="mailto:akatherine.b.escobar.civ@mail.mil" TargetMode="External"/><Relationship Id="rId4" Type="http://schemas.openxmlformats.org/officeDocument/2006/relationships/image" Target="../media/image23.png"/><Relationship Id="rId9" Type="http://schemas.openxmlformats.org/officeDocument/2006/relationships/image" Target="../media/image25.png"/><Relationship Id="rId14" Type="http://schemas.openxmlformats.org/officeDocument/2006/relationships/hyperlink" Target="https://www.linkedin.com/groups/1903175/profile" TargetMode="External"/><Relationship Id="rId22" Type="http://schemas.openxmlformats.org/officeDocument/2006/relationships/hyperlink" Target="https://github.com/niemopen/nbac-admin" TargetMode="External"/><Relationship Id="rId27" Type="http://schemas.openxmlformats.org/officeDocument/2006/relationships/hyperlink" Target="https://lists.oasis-open-projects.org/g/niemopen-pgb" TargetMode="External"/><Relationship Id="rId30" Type="http://schemas.openxmlformats.org/officeDocument/2006/relationships/hyperlink" Target="https://lists.oasis-open-projects.org/g/niemopen-nmotsc" TargetMode="External"/><Relationship Id="rId8" Type="http://schemas.openxmlformats.org/officeDocument/2006/relationships/hyperlink" Target="https://github.com/niemop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58104" y="4132470"/>
            <a:ext cx="893389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defRPr/>
            </a:pP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rgbClr val="00517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NBAC</a:t>
            </a:r>
          </a:p>
          <a:p>
            <a:pPr lvl="0" algn="ctr" defTabSz="457200">
              <a:defRPr/>
            </a:pPr>
            <a:r>
              <a:rPr lang="en-US" sz="4400" b="1" baseline="0" dirty="0">
                <a:solidFill>
                  <a:srgbClr val="005170"/>
                </a:solidFill>
                <a:latin typeface="Bahnschrift" panose="020B0502040204020203" pitchFamily="34" charset="0"/>
              </a:rPr>
              <a:t>May 21, 2026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E24B3-F692-A5C3-64FD-7892B777CB99}"/>
              </a:ext>
            </a:extLst>
          </p:cNvPr>
          <p:cNvSpPr txBox="1"/>
          <p:nvPr/>
        </p:nvSpPr>
        <p:spPr>
          <a:xfrm>
            <a:off x="1333500" y="5667920"/>
            <a:ext cx="986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Co-Chairs:</a:t>
            </a:r>
          </a:p>
          <a:p>
            <a:r>
              <a:rPr lang="en-US" sz="2000" b="1" dirty="0"/>
              <a:t>Kamran Atri                                    Thomas Krul                                  Paul Wormeli</a:t>
            </a:r>
          </a:p>
        </p:txBody>
      </p:sp>
    </p:spTree>
    <p:extLst>
      <p:ext uri="{BB962C8B-B14F-4D97-AF65-F5344CB8AC3E}">
        <p14:creationId xmlns:p14="http://schemas.microsoft.com/office/powerpoint/2010/main" val="1164405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49D6F8-42BF-9D37-38E3-58ED87A538DC}"/>
              </a:ext>
            </a:extLst>
          </p:cNvPr>
          <p:cNvSpPr txBox="1"/>
          <p:nvPr/>
        </p:nvSpPr>
        <p:spPr>
          <a:xfrm>
            <a:off x="76200" y="1143000"/>
            <a:ext cx="6858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0000"/>
                </a:solidFill>
                <a:latin typeface="+mj-lt"/>
              </a:rPr>
              <a:t>NIEMOpen is:</a:t>
            </a:r>
          </a:p>
          <a:p>
            <a:endParaRPr lang="en-US" dirty="0">
              <a:solidFill>
                <a:srgbClr val="000000"/>
              </a:solidFill>
              <a:latin typeface="+mj-lt"/>
            </a:endParaRP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An open source framework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for building a consensus on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data standards that facilitate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information sharing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across domains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and internationally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61ACF-89D5-832C-175D-AC70DBBCBD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5739" y="0"/>
            <a:ext cx="5140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60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EE5870A-0C53-ACF4-0751-E0E90D9AA783}"/>
              </a:ext>
            </a:extLst>
          </p:cNvPr>
          <p:cNvSpPr txBox="1">
            <a:spLocks/>
          </p:cNvSpPr>
          <p:nvPr/>
        </p:nvSpPr>
        <p:spPr>
          <a:xfrm>
            <a:off x="11157529" y="6400800"/>
            <a:ext cx="620891" cy="1828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CF63ED-5365-0347-943C-46237B9951C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8F2D5EB8-D982-DEC6-D7BF-D6F849E2B9D9}"/>
              </a:ext>
            </a:extLst>
          </p:cNvPr>
          <p:cNvSpPr txBox="1">
            <a:spLocks/>
          </p:cNvSpPr>
          <p:nvPr/>
        </p:nvSpPr>
        <p:spPr>
          <a:xfrm>
            <a:off x="426720" y="365760"/>
            <a:ext cx="11338560" cy="54864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cap="all">
                <a:solidFill>
                  <a:srgbClr val="004383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AGENDA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463C3D4-0656-84F8-7FBF-CE388A96993F}"/>
              </a:ext>
            </a:extLst>
          </p:cNvPr>
          <p:cNvSpPr txBox="1">
            <a:spLocks/>
          </p:cNvSpPr>
          <p:nvPr/>
        </p:nvSpPr>
        <p:spPr>
          <a:xfrm>
            <a:off x="439860" y="741680"/>
            <a:ext cx="11338560" cy="500132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1:00 Opening and NIEMOpen general update—Paul Wormeli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1:10 Progress report on the initiation of the forensics domain—Ryan Triplett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1:20 Report on the NTAC NIEMOpen Toolset gaps and recommendations—Brad Bolliger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1:30 Exploring collaboration with the Basic Formal Ontology (BFO)—Brad Bolliger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1:40 Developing data standards for countering drone technology—Michael Simcock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1:50 Discussion of a potential new domain on financial integrity—Paul Wormeli/Thomas Krul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2:00 Adjourn </a:t>
            </a:r>
          </a:p>
          <a:p>
            <a:pPr marL="457200" lvl="1" indent="0">
              <a:buNone/>
            </a:pPr>
            <a:endParaRPr lang="en-U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41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5D6F2F-6074-4DD8-B135-C06BA9BE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50590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1333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spc="-65" dirty="0" err="1">
                <a:solidFill>
                  <a:srgbClr val="005170"/>
                </a:solidFill>
              </a:rPr>
              <a:t>NIEMOpen</a:t>
            </a:r>
            <a:r>
              <a:rPr lang="en-US" sz="3200" spc="-65" dirty="0">
                <a:solidFill>
                  <a:srgbClr val="005170"/>
                </a:solidFill>
              </a:rPr>
              <a:t> Model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68512"/>
            <a:ext cx="108176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Think of the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NIEMOpen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model as a mature and stable data dictionary of agreed-upon terms, definitions, and formats independent of how information is stored inside individual IT systems.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09600" y="1809142"/>
            <a:ext cx="5694290" cy="2991457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NIEMOpen has 19 Domains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Agriculture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Biometrics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Chemical, Biological, Radiological, &amp; Nuclear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Cyber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Emergency Management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Human Services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Immigration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Infrastructure Protection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srgbClr val="FF0000"/>
                </a:solidFill>
                <a:latin typeface="Arial"/>
              </a:rPr>
              <a:t>Forensics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srgbClr val="334052"/>
                </a:solidFill>
                <a:latin typeface="Arial"/>
              </a:rPr>
              <a:t>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Intelligence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International Trade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International Human Services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Learning &amp; Development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Justice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Maritime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Military Operations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Screening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05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Surface Transportation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srgbClr val="FF0000"/>
                </a:solidFill>
                <a:latin typeface="Arial"/>
              </a:rPr>
              <a:t>Analytical Laboratories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Picture 10" descr="Untitled.png">
            <a:extLst>
              <a:ext uri="{FF2B5EF4-FFF2-40B4-BE49-F238E27FC236}">
                <a16:creationId xmlns:a16="http://schemas.microsoft.com/office/drawing/2014/main" id="{C8B89627-5055-4711-8208-08F022C719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3890" y="1987952"/>
            <a:ext cx="5278510" cy="334841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3DB64C-F569-4F44-8962-A4777ED7CE91}"/>
              </a:ext>
            </a:extLst>
          </p:cNvPr>
          <p:cNvCxnSpPr>
            <a:cxnSpLocks/>
          </p:cNvCxnSpPr>
          <p:nvPr/>
        </p:nvCxnSpPr>
        <p:spPr>
          <a:xfrm flipH="1">
            <a:off x="8260970" y="3635777"/>
            <a:ext cx="809624" cy="167610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arrow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wordle.png">
            <a:extLst>
              <a:ext uri="{FF2B5EF4-FFF2-40B4-BE49-F238E27FC236}">
                <a16:creationId xmlns:a16="http://schemas.microsoft.com/office/drawing/2014/main" id="{F4AC362F-B9F0-48BC-9AAE-E5A5A7A0DF3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222" y="5311881"/>
            <a:ext cx="2231136" cy="110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0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593DF7-2CF5-21DA-AE79-C11FED353750}"/>
              </a:ext>
            </a:extLst>
          </p:cNvPr>
          <p:cNvSpPr txBox="1"/>
          <p:nvPr/>
        </p:nvSpPr>
        <p:spPr>
          <a:xfrm>
            <a:off x="908351" y="1590149"/>
            <a:ext cx="9387116" cy="2390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5333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Forensics Sub-Committee</a:t>
            </a:r>
          </a:p>
          <a:p>
            <a:pPr defTabSz="1219170">
              <a:buClr>
                <a:srgbClr val="000000"/>
              </a:buClr>
            </a:pPr>
            <a:r>
              <a:rPr lang="en-US" sz="5333" b="1" kern="0" dirty="0">
                <a:solidFill>
                  <a:srgbClr val="20B1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  <a:sym typeface="Arial"/>
              </a:rPr>
              <a:t>Status Update</a:t>
            </a:r>
          </a:p>
          <a:p>
            <a:pPr defTabSz="1219170">
              <a:buClr>
                <a:srgbClr val="000000"/>
              </a:buClr>
            </a:pPr>
            <a:r>
              <a:rPr lang="en-US" sz="4267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05.22.2026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45547-D2C3-0AC7-5732-8292A045A947}"/>
              </a:ext>
            </a:extLst>
          </p:cNvPr>
          <p:cNvSpPr/>
          <p:nvPr/>
        </p:nvSpPr>
        <p:spPr>
          <a:xfrm>
            <a:off x="-7781" y="4906943"/>
            <a:ext cx="12228576" cy="1046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5" name="Google Shape;206;g25633069588_2_0">
            <a:extLst>
              <a:ext uri="{FF2B5EF4-FFF2-40B4-BE49-F238E27FC236}">
                <a16:creationId xmlns:a16="http://schemas.microsoft.com/office/drawing/2014/main" id="{A705BC62-0FCB-7C24-8811-49950AEA9C50}"/>
              </a:ext>
            </a:extLst>
          </p:cNvPr>
          <p:cNvSpPr txBox="1">
            <a:spLocks/>
          </p:cNvSpPr>
          <p:nvPr/>
        </p:nvSpPr>
        <p:spPr>
          <a:xfrm>
            <a:off x="5454127" y="137953"/>
            <a:ext cx="2021171" cy="18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en-US" sz="1867" b="1" kern="0" dirty="0">
                <a:solidFill>
                  <a:srgbClr val="FFF17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UNCLASSIFIED</a:t>
            </a:r>
            <a:endParaRPr lang="en-US" sz="1867" kern="0" dirty="0">
              <a:solidFill>
                <a:srgbClr val="FFF17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4D20848-BB49-CCBC-54D4-404888C65C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-US" kern="0">
                <a:solidFill>
                  <a:srgbClr val="202729"/>
                </a:solidFill>
              </a:rPr>
              <a:pPr defTabSz="1219170"/>
              <a:t>5</a:t>
            </a:fld>
            <a:endParaRPr lang="en-US" kern="0">
              <a:solidFill>
                <a:srgbClr val="202729"/>
              </a:solidFill>
            </a:endParaRPr>
          </a:p>
        </p:txBody>
      </p:sp>
      <p:sp>
        <p:nvSpPr>
          <p:cNvPr id="16" name="Google Shape;206;g25633069588_2_0">
            <a:extLst>
              <a:ext uri="{FF2B5EF4-FFF2-40B4-BE49-F238E27FC236}">
                <a16:creationId xmlns:a16="http://schemas.microsoft.com/office/drawing/2014/main" id="{57F6B7CB-683B-35D3-2DC8-F8F2004CFA95}"/>
              </a:ext>
            </a:extLst>
          </p:cNvPr>
          <p:cNvSpPr txBox="1">
            <a:spLocks/>
          </p:cNvSpPr>
          <p:nvPr/>
        </p:nvSpPr>
        <p:spPr>
          <a:xfrm>
            <a:off x="5454127" y="6526377"/>
            <a:ext cx="2021171" cy="18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en-US" sz="1867" b="1" kern="0" dirty="0">
                <a:solidFill>
                  <a:srgbClr val="FFF17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UNCLASSIFIED</a:t>
            </a:r>
            <a:endParaRPr lang="en-US" sz="1867" kern="0" dirty="0">
              <a:solidFill>
                <a:srgbClr val="FFF17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0C3DC-5F68-8F38-8A80-566451AFA0A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5697" y="4914767"/>
            <a:ext cx="1046020" cy="1028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4A4FC-6633-3F56-7B80-668947F42D7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1267" y="4926091"/>
            <a:ext cx="1011936" cy="1011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B670D4-A711-35A7-AFA1-BD894412815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574" y="4926092"/>
            <a:ext cx="1052433" cy="1052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4AEA3B-7EAE-93E4-BF5A-48091E6E9B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90" y="5086547"/>
            <a:ext cx="2451065" cy="731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2DC55-E66B-B800-8326-FD75CF9B5BF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68976" y="4926091"/>
            <a:ext cx="1355795" cy="1011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AC7EEE-C7B9-3D9E-0204-2CF68F4B83C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299" y="4926599"/>
            <a:ext cx="994300" cy="10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0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F9BE-F9EB-6BB0-E24A-B527AB82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EE41A6-41C0-B276-0904-F6D02D51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7869"/>
            <a:ext cx="10972800" cy="697627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History &amp; Progress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3C3A7-2C29-A826-0B8C-4E254327158D}"/>
              </a:ext>
            </a:extLst>
          </p:cNvPr>
          <p:cNvSpPr/>
          <p:nvPr/>
        </p:nvSpPr>
        <p:spPr>
          <a:xfrm>
            <a:off x="0" y="1"/>
            <a:ext cx="453656" cy="1199632"/>
          </a:xfrm>
          <a:prstGeom prst="rect">
            <a:avLst/>
          </a:prstGeom>
          <a:solidFill>
            <a:srgbClr val="20B2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EEE489-BA9A-FFE7-3827-E775DC7BA221}"/>
              </a:ext>
            </a:extLst>
          </p:cNvPr>
          <p:cNvSpPr txBox="1">
            <a:spLocks/>
          </p:cNvSpPr>
          <p:nvPr/>
        </p:nvSpPr>
        <p:spPr>
          <a:xfrm>
            <a:off x="1190874" y="1186790"/>
            <a:ext cx="9400927" cy="4909075"/>
          </a:xfrm>
          <a:prstGeom prst="rect">
            <a:avLst/>
          </a:prstGeom>
        </p:spPr>
        <p:txBody>
          <a:bodyPr vert="horz" lIns="0" tIns="0" rIns="0" bIns="0" spcCol="2743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867" b="1" dirty="0">
                <a:solidFill>
                  <a:srgbClr val="002060"/>
                </a:solidFill>
                <a:latin typeface="Arial"/>
              </a:rPr>
              <a:t>COMPLETED ACTIVITIES</a:t>
            </a: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82880" marR="0" lvl="0" indent="-18288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Forensics Domain formally established in Spring 2025</a:t>
            </a:r>
          </a:p>
          <a:p>
            <a:pPr marL="182880" marR="0" lvl="0" indent="-18288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Subcommittee Kick-Off Town Hall held in December 2025</a:t>
            </a:r>
          </a:p>
          <a:p>
            <a:pPr marL="182880" marR="0" lvl="0" indent="-18288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221F20"/>
                </a:solidFill>
                <a:latin typeface="Arial"/>
              </a:rPr>
              <a:t>Publication of an article in Journal of Forensics Research and a </a:t>
            </a:r>
            <a:r>
              <a:rPr lang="en-US" dirty="0" err="1">
                <a:solidFill>
                  <a:srgbClr val="221F20"/>
                </a:solidFill>
                <a:latin typeface="Arial"/>
              </a:rPr>
              <a:t>NIEMOpen</a:t>
            </a:r>
            <a:r>
              <a:rPr lang="en-US" dirty="0">
                <a:solidFill>
                  <a:srgbClr val="221F20"/>
                </a:solidFill>
                <a:latin typeface="Arial"/>
              </a:rPr>
              <a:t> press release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121914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Forensics Subcommittee GitHub page for collaboration: </a:t>
            </a:r>
            <a:r>
              <a:rPr lang="en-US" dirty="0">
                <a:solidFill>
                  <a:srgbClr val="221F20"/>
                </a:solidFill>
                <a:hlinkClick r:id="rId3"/>
              </a:rPr>
              <a:t>https://github.com/niemopen/niem-forensics</a:t>
            </a:r>
            <a:endParaRPr lang="en-US" dirty="0">
              <a:solidFill>
                <a:srgbClr val="221F20"/>
              </a:solidFill>
            </a:endParaRPr>
          </a:p>
          <a:p>
            <a:pPr defTabSz="1219140"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Forensic attributes lists, rosters, and meeting documentation posted to GitHub</a:t>
            </a:r>
            <a:endParaRPr kumimoji="0" lang="en-US" sz="1867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867" b="1" dirty="0">
                <a:solidFill>
                  <a:srgbClr val="002060"/>
                </a:solidFill>
                <a:latin typeface="Arial"/>
              </a:rPr>
              <a:t>CURRENT ACTIVITIES</a:t>
            </a: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lvl="0" defTabSz="121914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221F20"/>
                </a:solidFill>
              </a:rPr>
              <a:t>Tiger Teams</a:t>
            </a:r>
          </a:p>
          <a:p>
            <a:pPr lvl="1" defTabSz="121914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Subcommittee leadership is conducting meetings with forensic organizations and subject matter experts to identify leads</a:t>
            </a:r>
          </a:p>
          <a:p>
            <a:pPr lvl="1" defTabSz="121914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Tentative lead identified for Chemistry tiger team – awaiting confirmation</a:t>
            </a:r>
          </a:p>
          <a:p>
            <a:pPr defTabSz="121914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221F20"/>
                </a:solidFill>
              </a:rPr>
              <a:t>Subcommittee Documentation</a:t>
            </a:r>
          </a:p>
          <a:p>
            <a:pPr lvl="1" defTabSz="121914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Draft SOP/Guidance document for tiger team leads under review</a:t>
            </a:r>
          </a:p>
          <a:p>
            <a:pPr lvl="1" defTabSz="121914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GitHub page is being updated as new subcommittee documents are developed</a:t>
            </a:r>
          </a:p>
          <a:p>
            <a:pPr marL="0" marR="0" lvl="0" indent="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F3929FA-8791-EB4D-1D93-54ECEB0D898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lang="en" smtClean="0"/>
              <a:pPr/>
              <a:t>6</a:t>
            </a:fld>
            <a:endParaRPr kumimoji="0" lang="en" sz="1333" b="0" i="0" u="none" strike="noStrike" kern="1200" cap="none" spc="0" normalizeH="0" baseline="0" noProof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Proxima Nova"/>
              <a:sym typeface="Proxima Nova"/>
            </a:endParaRPr>
          </a:p>
        </p:txBody>
      </p:sp>
      <p:sp>
        <p:nvSpPr>
          <p:cNvPr id="13" name="Google Shape;206;g25633069588_2_0">
            <a:extLst>
              <a:ext uri="{FF2B5EF4-FFF2-40B4-BE49-F238E27FC236}">
                <a16:creationId xmlns:a16="http://schemas.microsoft.com/office/drawing/2014/main" id="{598C7BE6-F483-CF1F-A9AF-57C4FEA4D577}"/>
              </a:ext>
            </a:extLst>
          </p:cNvPr>
          <p:cNvSpPr txBox="1">
            <a:spLocks/>
          </p:cNvSpPr>
          <p:nvPr/>
        </p:nvSpPr>
        <p:spPr>
          <a:xfrm>
            <a:off x="5175564" y="6599655"/>
            <a:ext cx="2021171" cy="1889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UNCLASSIFIED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079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AEF8-839B-D4FB-2B26-4D947AFF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745A27-B2D7-1597-155B-55ABA4F7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7869"/>
            <a:ext cx="10972800" cy="697627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20B88-0357-AF0D-EEBE-18E1E4F56A6F}"/>
              </a:ext>
            </a:extLst>
          </p:cNvPr>
          <p:cNvSpPr/>
          <p:nvPr/>
        </p:nvSpPr>
        <p:spPr>
          <a:xfrm>
            <a:off x="0" y="1"/>
            <a:ext cx="453656" cy="1199632"/>
          </a:xfrm>
          <a:prstGeom prst="rect">
            <a:avLst/>
          </a:prstGeom>
          <a:solidFill>
            <a:srgbClr val="20B2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C7D94F-6934-FC91-9A4C-7675C253AA56}"/>
              </a:ext>
            </a:extLst>
          </p:cNvPr>
          <p:cNvSpPr txBox="1">
            <a:spLocks/>
          </p:cNvSpPr>
          <p:nvPr/>
        </p:nvSpPr>
        <p:spPr>
          <a:xfrm>
            <a:off x="1190874" y="1084823"/>
            <a:ext cx="9400927" cy="4909075"/>
          </a:xfrm>
          <a:prstGeom prst="rect">
            <a:avLst/>
          </a:prstGeom>
        </p:spPr>
        <p:txBody>
          <a:bodyPr vert="horz" lIns="0" tIns="0" rIns="0" bIns="0" spcCol="2743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40">
              <a:buNone/>
              <a:defRPr/>
            </a:pPr>
            <a:r>
              <a:rPr lang="en-US" sz="1867" b="1" dirty="0">
                <a:solidFill>
                  <a:srgbClr val="002060"/>
                </a:solidFill>
              </a:rPr>
              <a:t>TIGER TEAM DEVELOPMENT</a:t>
            </a: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121914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221F20"/>
                </a:solidFill>
                <a:latin typeface="Arial"/>
              </a:rPr>
              <a:t>Timeframe: </a:t>
            </a:r>
            <a:r>
              <a:rPr lang="en-US" dirty="0">
                <a:solidFill>
                  <a:srgbClr val="221F20"/>
                </a:solidFill>
                <a:latin typeface="Arial"/>
              </a:rPr>
              <a:t>Ongoing</a:t>
            </a:r>
          </a:p>
          <a:p>
            <a:pPr defTabSz="121914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221F20"/>
                </a:solidFill>
                <a:latin typeface="Arial"/>
              </a:rPr>
              <a:t>Process:</a:t>
            </a:r>
          </a:p>
          <a:p>
            <a:pPr marL="640080" lvl="1" indent="-457200" defTabSz="1219140">
              <a:spcBef>
                <a:spcPts val="1000"/>
              </a:spcBef>
              <a:buFont typeface="+mj-lt"/>
              <a:buAutoNum type="arabicPeriod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Leadership </a:t>
            </a:r>
            <a:r>
              <a:rPr lang="en-US" dirty="0">
                <a:solidFill>
                  <a:srgbClr val="221F20"/>
                </a:solidFill>
                <a:latin typeface="Arial"/>
              </a:rPr>
              <a:t>will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meet with tiger team leads as they are identified</a:t>
            </a:r>
          </a:p>
          <a:p>
            <a:pPr marL="640080" lvl="1" indent="-457200" defTabSz="1219140">
              <a:spcBef>
                <a:spcPts val="1000"/>
              </a:spcBef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dirty="0">
                <a:solidFill>
                  <a:srgbClr val="221F20"/>
                </a:solidFill>
                <a:latin typeface="Arial"/>
              </a:rPr>
              <a:t>Leads will work with their tiger team to begin attribute refinement and development</a:t>
            </a:r>
            <a:endParaRPr lang="en-US" sz="1800" dirty="0">
              <a:solidFill>
                <a:srgbClr val="221F20"/>
              </a:solidFill>
              <a:latin typeface="Arial"/>
            </a:endParaRPr>
          </a:p>
          <a:p>
            <a:pPr marL="0" indent="0" defTabSz="1219140">
              <a:buNone/>
              <a:defRPr/>
            </a:pPr>
            <a:r>
              <a:rPr lang="en-US" sz="1867" b="1" dirty="0">
                <a:solidFill>
                  <a:srgbClr val="002060"/>
                </a:solidFill>
              </a:rPr>
              <a:t>GENERAL SUBCOMMITTEE MEETING</a:t>
            </a: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121914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Timeframe: </a:t>
            </a:r>
            <a:r>
              <a:rPr lang="en-US" dirty="0">
                <a:solidFill>
                  <a:srgbClr val="221F20"/>
                </a:solidFill>
                <a:latin typeface="Arial"/>
              </a:rPr>
              <a:t>Fall 2026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121914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Topics:</a:t>
            </a:r>
          </a:p>
          <a:p>
            <a:pPr marL="640080" lvl="1" indent="-457200" defTabSz="1219140">
              <a:buFont typeface="+mj-lt"/>
              <a:buAutoNum type="arabicPeriod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Introduction of tiger team leads</a:t>
            </a:r>
          </a:p>
          <a:p>
            <a:pPr marL="640080" lvl="1" indent="-457200" defTabSz="1219140">
              <a:buFont typeface="+mj-lt"/>
              <a:buAutoNum type="arabicPeriod"/>
              <a:defRPr/>
            </a:pPr>
            <a:r>
              <a:rPr lang="en-US" dirty="0">
                <a:solidFill>
                  <a:srgbClr val="221F20"/>
                </a:solidFill>
                <a:latin typeface="Arial"/>
              </a:rPr>
              <a:t>Status updates on tiger teams and attribute development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40080" lvl="1" indent="-457200" defTabSz="1219140">
              <a:buFont typeface="+mj-lt"/>
              <a:buAutoNum type="arabicPeriod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Overview of GitHub page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44A11A-1E92-56DB-8D12-F7BDC4A875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lang="en" smtClean="0"/>
              <a:pPr/>
              <a:t>7</a:t>
            </a:fld>
            <a:endParaRPr kumimoji="0" lang="en" sz="1333" b="0" i="0" u="none" strike="noStrike" kern="1200" cap="none" spc="0" normalizeH="0" baseline="0" noProof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Proxima Nova"/>
              <a:sym typeface="Proxima Nova"/>
            </a:endParaRPr>
          </a:p>
        </p:txBody>
      </p:sp>
      <p:sp>
        <p:nvSpPr>
          <p:cNvPr id="13" name="Google Shape;206;g25633069588_2_0">
            <a:extLst>
              <a:ext uri="{FF2B5EF4-FFF2-40B4-BE49-F238E27FC236}">
                <a16:creationId xmlns:a16="http://schemas.microsoft.com/office/drawing/2014/main" id="{3F36275A-050D-3A48-417C-DAF83DD6C978}"/>
              </a:ext>
            </a:extLst>
          </p:cNvPr>
          <p:cNvSpPr txBox="1">
            <a:spLocks/>
          </p:cNvSpPr>
          <p:nvPr/>
        </p:nvSpPr>
        <p:spPr>
          <a:xfrm>
            <a:off x="5175564" y="6599655"/>
            <a:ext cx="2021171" cy="1889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UNCLASSIFIED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BDF83-DDC2-F639-5F09-595EEF90BB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7962" y="4857160"/>
            <a:ext cx="7446750" cy="136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52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2EFD78-8434-88C9-C9D7-F93032FA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NTAC Updates for May 2026 NBAC Call</a:t>
            </a:r>
          </a:p>
        </p:txBody>
      </p:sp>
    </p:spTree>
    <p:extLst>
      <p:ext uri="{BB962C8B-B14F-4D97-AF65-F5344CB8AC3E}">
        <p14:creationId xmlns:p14="http://schemas.microsoft.com/office/powerpoint/2010/main" val="85092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3A6D9E-640B-6091-9974-2AA3F32E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63ED-5365-0347-943C-46237B9951C9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C93B9E-0F7A-B766-EA3F-A5242FD0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NTAC Tool Expansion and Ontology Support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1AE53-1AB5-F048-31C0-40BC6DD4D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NTAC is exploring BFO/CCO–NIEM value and use cases</a:t>
            </a:r>
          </a:p>
          <a:p>
            <a:pPr lvl="1"/>
            <a:r>
              <a:rPr lang="en-US" dirty="0"/>
              <a:t>The goal is to highlight the business value of using BFO and CCO in conjunction with NIEM</a:t>
            </a:r>
          </a:p>
          <a:p>
            <a:pPr lvl="1"/>
            <a:r>
              <a:rPr lang="en-US" dirty="0"/>
              <a:t>Outputs include demonstrating potential use cases and opportunities, e.g.: </a:t>
            </a:r>
          </a:p>
          <a:p>
            <a:pPr lvl="2"/>
            <a:r>
              <a:rPr lang="en-US" dirty="0"/>
              <a:t>DHS/DOD collaboration, </a:t>
            </a:r>
          </a:p>
          <a:p>
            <a:pPr lvl="2"/>
            <a:r>
              <a:rPr lang="en-US" dirty="0"/>
              <a:t>Ontologies for inference in NIEM-enabled environments more generally, </a:t>
            </a:r>
          </a:p>
          <a:p>
            <a:pPr lvl="2"/>
            <a:r>
              <a:rPr lang="en-US" dirty="0"/>
              <a:t>and possibly NIEM expansion, if domain ontologies provide new insight or opportunity. </a:t>
            </a:r>
          </a:p>
          <a:p>
            <a:r>
              <a:rPr lang="en-US" dirty="0"/>
              <a:t>NTAC Tooling Tiger Team discussion and recommendations</a:t>
            </a:r>
          </a:p>
          <a:p>
            <a:pPr lvl="1"/>
            <a:r>
              <a:rPr lang="en-US" dirty="0"/>
              <a:t>Tooling Tiger Team has recommended expanded support for new developer tools (e.g., MCP server, broader support for Semantics, CMF SQL outputs, and other tool improvements)</a:t>
            </a:r>
          </a:p>
          <a:p>
            <a:pPr lvl="1"/>
            <a:r>
              <a:rPr lang="en-US" dirty="0"/>
              <a:t>We discussed the importance of </a:t>
            </a:r>
            <a:r>
              <a:rPr lang="en-US" b="1" dirty="0"/>
              <a:t>user workflow(s)</a:t>
            </a:r>
            <a:r>
              <a:rPr lang="en-US" dirty="0"/>
              <a:t>, </a:t>
            </a:r>
            <a:r>
              <a:rPr lang="en-US" b="1" dirty="0"/>
              <a:t>mapping templates</a:t>
            </a:r>
            <a:r>
              <a:rPr lang="en-US" dirty="0"/>
              <a:t>, and accommodating </a:t>
            </a:r>
            <a:r>
              <a:rPr lang="en-US" b="1" dirty="0"/>
              <a:t>new user personae </a:t>
            </a:r>
            <a:r>
              <a:rPr lang="en-US" dirty="0"/>
              <a:t>- especially those who expect AI or ontologies to help them use NIEM more easily</a:t>
            </a:r>
          </a:p>
          <a:p>
            <a:r>
              <a:rPr lang="en-US" dirty="0"/>
              <a:t>Critical of note for the NBAC:</a:t>
            </a:r>
          </a:p>
          <a:p>
            <a:pPr lvl="1"/>
            <a:r>
              <a:rPr lang="en-US" dirty="0"/>
              <a:t>This will require successful completion of the API 2.0, and revised Training and Workflows (i.e. MEP)</a:t>
            </a:r>
          </a:p>
        </p:txBody>
      </p:sp>
    </p:spTree>
    <p:extLst>
      <p:ext uri="{BB962C8B-B14F-4D97-AF65-F5344CB8AC3E}">
        <p14:creationId xmlns:p14="http://schemas.microsoft.com/office/powerpoint/2010/main" val="320866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5A52-329F-4C06-CEB7-8CA55D66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 dirty="0" err="1"/>
              <a:t>NIEMOpen</a:t>
            </a:r>
            <a:r>
              <a:rPr lang="en-US" dirty="0"/>
              <a:t> Tools </a:t>
            </a:r>
            <a:br>
              <a:rPr lang="en-US" dirty="0"/>
            </a:br>
            <a:r>
              <a:rPr lang="en-US" i="1" dirty="0"/>
              <a:t>Recommendations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139ADD-7138-4195-E22B-E0DE6FB36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Standardized mapping templates</a:t>
            </a:r>
          </a:p>
          <a:p>
            <a:pPr lvl="1"/>
            <a:r>
              <a:rPr lang="en-US" dirty="0"/>
              <a:t>Message specifications</a:t>
            </a:r>
          </a:p>
          <a:p>
            <a:pPr lvl="1"/>
            <a:r>
              <a:rPr lang="en-US" dirty="0"/>
              <a:t>Releases/domain updates, and other aspects of NBAC support</a:t>
            </a:r>
          </a:p>
          <a:p>
            <a:r>
              <a:rPr lang="en-US" dirty="0" err="1"/>
              <a:t>CMFTool</a:t>
            </a:r>
            <a:r>
              <a:rPr lang="en-US" dirty="0"/>
              <a:t> enhancements</a:t>
            </a:r>
          </a:p>
          <a:p>
            <a:pPr lvl="1"/>
            <a:r>
              <a:rPr lang="en-US" dirty="0"/>
              <a:t>Document how to use (in progress)</a:t>
            </a:r>
          </a:p>
          <a:p>
            <a:pPr lvl="1"/>
            <a:r>
              <a:rPr lang="en-US" dirty="0"/>
              <a:t>Test XML/JSON interoperability (in progress)</a:t>
            </a:r>
          </a:p>
          <a:p>
            <a:pPr lvl="1"/>
            <a:r>
              <a:rPr lang="en-US" dirty="0"/>
              <a:t>Import message mappings</a:t>
            </a:r>
          </a:p>
          <a:p>
            <a:pPr lvl="1"/>
            <a:r>
              <a:rPr lang="en-US" dirty="0"/>
              <a:t>Export ANSI SQL, </a:t>
            </a:r>
            <a:r>
              <a:rPr lang="en-US" dirty="0" err="1"/>
              <a:t>OpenAPI</a:t>
            </a:r>
            <a:r>
              <a:rPr lang="en-US" dirty="0"/>
              <a:t> and release worksheet</a:t>
            </a:r>
          </a:p>
          <a:p>
            <a:r>
              <a:rPr lang="en-US" dirty="0"/>
              <a:t>API 2.0/</a:t>
            </a:r>
            <a:r>
              <a:rPr lang="en-US" dirty="0" err="1"/>
              <a:t>NIEMToolbox</a:t>
            </a:r>
            <a:r>
              <a:rPr lang="en-US" dirty="0"/>
              <a:t> enhancements</a:t>
            </a:r>
          </a:p>
          <a:p>
            <a:pPr lvl="1"/>
            <a:r>
              <a:rPr lang="en-US" dirty="0"/>
              <a:t>Save mappings in Search UI</a:t>
            </a:r>
          </a:p>
          <a:p>
            <a:pPr lvl="1"/>
            <a:r>
              <a:rPr lang="en-US" dirty="0"/>
              <a:t>Expose a Model Context Protocol (MCP) API </a:t>
            </a:r>
          </a:p>
          <a:p>
            <a:pPr lvl="2"/>
            <a:r>
              <a:rPr lang="en-US" dirty="0"/>
              <a:t>(to enable third party AI tools)</a:t>
            </a:r>
          </a:p>
          <a:p>
            <a:pPr lvl="1"/>
            <a:r>
              <a:rPr lang="en-US" dirty="0"/>
              <a:t>Validate Model Conformance of a CMF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E8DD8B-4B99-DC99-1350-FB5F354EB349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931025" y="155575"/>
            <a:ext cx="5260975" cy="654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9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F76023-B0CD-EEFE-16C2-8984279F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63ED-5365-0347-943C-46237B9951C9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2F9360-2590-AE3C-8A29-CABE47A9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NTAC conversation or discussion relevant to NBAC</a:t>
            </a:r>
            <a:endParaRPr lang="en-US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7BAC1-FC16-9E7B-5D2F-D2F17707D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DAMA-DMBOK 3.0 workshops</a:t>
            </a:r>
          </a:p>
          <a:p>
            <a:pPr lvl="1"/>
            <a:r>
              <a:rPr lang="en-US" dirty="0"/>
              <a:t>DAMA is planning an expansion of DMBOK, and we hope this will include mention of NIEM</a:t>
            </a:r>
          </a:p>
          <a:p>
            <a:pPr lvl="1"/>
            <a:r>
              <a:rPr lang="en-US" dirty="0"/>
              <a:t>NTAC co-chairs are planning to attend May workshop, scheduled next Wednesday, May 27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Other NTAC conversation or discussion relevant to NBAC:</a:t>
            </a:r>
          </a:p>
          <a:p>
            <a:pPr lvl="1"/>
            <a:r>
              <a:rPr lang="en-US" dirty="0"/>
              <a:t>Coordinating a NIEM user survey with support from IJIS, </a:t>
            </a:r>
          </a:p>
          <a:p>
            <a:pPr lvl="1"/>
            <a:r>
              <a:rPr lang="en-US" dirty="0"/>
              <a:t>Discussing website updates, including but not limited to SSGT, expanded Success Stories, and a streamlined communication of NIEM’s value to Government and Commercial users</a:t>
            </a:r>
          </a:p>
          <a:p>
            <a:pPr lvl="1"/>
            <a:r>
              <a:rPr lang="en-US" dirty="0"/>
              <a:t>Anticipating NTAC support of the ISO certification process, hoping to discuss in June 2026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28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C440ACB-EA51-6139-08DC-83A1C3DA613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F2F552B-1952-B44E-8CAB-5705F0ACD2E2}" type="slidenum">
              <a:rPr lang="uk-UA" sz="800" cap="all" smtClean="0">
                <a:solidFill>
                  <a:srgbClr val="0B2338"/>
                </a:solidFill>
                <a:latin typeface="Arial"/>
              </a:rPr>
              <a:pPr algn="r">
                <a:defRPr/>
              </a:pPr>
              <a:t>12</a:t>
            </a:fld>
            <a:endParaRPr lang="uk-UA" sz="800" cap="all" dirty="0">
              <a:solidFill>
                <a:srgbClr val="0B2338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593DE50-CDF6-18E8-E7BA-B283DE1E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6905"/>
            <a:ext cx="11277600" cy="693337"/>
          </a:xfrm>
        </p:spPr>
        <p:txBody>
          <a:bodyPr>
            <a:normAutofit/>
          </a:bodyPr>
          <a:lstStyle/>
          <a:p>
            <a:r>
              <a:rPr lang="en-US" sz="2400" dirty="0"/>
              <a:t>Update on Counter-UAS information standards</a:t>
            </a:r>
            <a:endParaRPr lang="en-US" sz="2400" dirty="0">
              <a:solidFill>
                <a:srgbClr val="004282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B713D21-43FF-F220-017B-14663D32B0FE}"/>
              </a:ext>
            </a:extLst>
          </p:cNvPr>
          <p:cNvSpPr txBox="1">
            <a:spLocks/>
          </p:cNvSpPr>
          <p:nvPr/>
        </p:nvSpPr>
        <p:spPr>
          <a:xfrm>
            <a:off x="457200" y="795484"/>
            <a:ext cx="11277600" cy="543169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The emerging data standard for Counter‑UAS (C‑UAS) activities is being driven primarily by a U.S.–U.K. initiative to create a unified, interoperable data format for detection, tracking, and engagement of unmanned aerial threats. </a:t>
            </a:r>
            <a:r>
              <a:rPr lang="en-US" sz="1400" b="1" dirty="0"/>
              <a:t>Purpose of the Standard:</a:t>
            </a:r>
            <a:endParaRPr lang="en-US" sz="1400" dirty="0"/>
          </a:p>
          <a:p>
            <a:pPr lvl="0"/>
            <a:r>
              <a:rPr lang="en-US" sz="1400" dirty="0"/>
              <a:t>Create </a:t>
            </a:r>
            <a:r>
              <a:rPr lang="en-US" sz="1400" u="sng" dirty="0"/>
              <a:t>common data formats </a:t>
            </a:r>
            <a:r>
              <a:rPr lang="en-US" sz="1400" dirty="0"/>
              <a:t>for C‑UAS sensors, effectors, and command‑and‑control systems to transmit their findings</a:t>
            </a:r>
          </a:p>
          <a:p>
            <a:pPr lvl="0"/>
            <a:r>
              <a:rPr lang="en-US" sz="1400" dirty="0"/>
              <a:t>Improve </a:t>
            </a:r>
            <a:r>
              <a:rPr lang="en-US" sz="1400" u="sng" dirty="0"/>
              <a:t>sensor fusion</a:t>
            </a:r>
            <a:r>
              <a:rPr lang="en-US" sz="1400" dirty="0"/>
              <a:t>, allowing multiple radars, RF detectors, EO/IR cameras, and effectors to share a unified picture </a:t>
            </a:r>
          </a:p>
          <a:p>
            <a:pPr lvl="0"/>
            <a:r>
              <a:rPr lang="en-US" sz="1400" dirty="0"/>
              <a:t>Enable </a:t>
            </a:r>
            <a:r>
              <a:rPr lang="en-US" sz="1400" u="sng" dirty="0"/>
              <a:t>interoperability</a:t>
            </a:r>
            <a:r>
              <a:rPr lang="en-US" sz="1400" dirty="0"/>
              <a:t> between U.S. and U.K. systems, with potential expansion to NATO partners. </a:t>
            </a:r>
          </a:p>
          <a:p>
            <a:pPr lvl="0"/>
            <a:r>
              <a:rPr lang="en-US" sz="1400" u="sng" dirty="0"/>
              <a:t>Reduce and enhance </a:t>
            </a:r>
            <a:r>
              <a:rPr lang="en-US" sz="1400" dirty="0"/>
              <a:t>the C2 operator workload for interpreting and engaging UAS threat contacts</a:t>
            </a:r>
          </a:p>
          <a:p>
            <a:pPr marL="0" indent="0">
              <a:buNone/>
            </a:pPr>
            <a:r>
              <a:rPr lang="en-US" sz="1400" b="1" dirty="0"/>
              <a:t>What Counter UAS data and information sharing standards have been developed so far?</a:t>
            </a:r>
          </a:p>
          <a:p>
            <a:pPr lvl="0"/>
            <a:r>
              <a:rPr lang="en-US" sz="1400" dirty="0"/>
              <a:t>NATO is in the process of adopting the UK-Developed SAPIENT </a:t>
            </a:r>
            <a:r>
              <a:rPr lang="en-US" sz="1400" b="1" dirty="0"/>
              <a:t>(</a:t>
            </a:r>
            <a:r>
              <a:rPr lang="en-US" sz="1400" dirty="0"/>
              <a:t>Sensing for Asset Protection with Integrated Electronic Networked Technology) approach </a:t>
            </a:r>
          </a:p>
          <a:p>
            <a:pPr lvl="1"/>
            <a:r>
              <a:rPr lang="en-US" sz="1400" dirty="0"/>
              <a:t>SAPIENT Plug and Play approach is to enhance vendor products in order to process raw data and transmit standardized information exchange messages between components </a:t>
            </a:r>
          </a:p>
          <a:p>
            <a:pPr lvl="1"/>
            <a:r>
              <a:rPr lang="en-US" sz="1400" dirty="0"/>
              <a:t>Utilize AI for processing and interpreting raw data for detecting, identifying and confirming UAS contacts </a:t>
            </a:r>
          </a:p>
          <a:p>
            <a:pPr lvl="1"/>
            <a:r>
              <a:rPr lang="en-US" sz="1400" dirty="0"/>
              <a:t>Demonstrated and tested Counter UAS systems that integrated SAPIENT plug-and-play software engine</a:t>
            </a:r>
          </a:p>
          <a:p>
            <a:pPr lvl="1"/>
            <a:r>
              <a:rPr lang="en-US" sz="1400" dirty="0"/>
              <a:t>UK MOD has developed an Interface Control Document (ICD) for SAPIENT integration</a:t>
            </a:r>
          </a:p>
          <a:p>
            <a:pPr lvl="0"/>
            <a:r>
              <a:rPr lang="en-US" sz="1400" dirty="0"/>
              <a:t>DOD and DHS have decided to adopt the NATO approach to maintain uniformity and key alignments with other countries implementing Counter UAS strategy. This includes:</a:t>
            </a:r>
          </a:p>
          <a:p>
            <a:pPr lvl="1"/>
            <a:r>
              <a:rPr lang="en-US" sz="1400" dirty="0"/>
              <a:t>Open Architecture and interoperability</a:t>
            </a:r>
          </a:p>
          <a:p>
            <a:pPr lvl="1"/>
            <a:r>
              <a:rPr lang="en-US" sz="1400" dirty="0"/>
              <a:t>AI and autonomous functionality</a:t>
            </a:r>
          </a:p>
          <a:p>
            <a:pPr lvl="1"/>
            <a:r>
              <a:rPr lang="en-US" sz="1400" dirty="0"/>
              <a:t>Operational efficiency</a:t>
            </a:r>
          </a:p>
          <a:p>
            <a:pPr lvl="1"/>
            <a:r>
              <a:rPr lang="en-US" sz="1400" dirty="0"/>
              <a:t>Plug-and-Play Implementation strategy with hardware vendors (NATO and US Army)</a:t>
            </a:r>
          </a:p>
        </p:txBody>
      </p:sp>
    </p:spTree>
    <p:extLst>
      <p:ext uri="{BB962C8B-B14F-4D97-AF65-F5344CB8AC3E}">
        <p14:creationId xmlns:p14="http://schemas.microsoft.com/office/powerpoint/2010/main" val="3734486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0329-8625-A4A1-C5DF-378356DF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DFA864C-F795-CBED-C9EE-9F955AEFDA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F2F552B-1952-B44E-8CAB-5705F0ACD2E2}" type="slidenum">
              <a:rPr lang="uk-UA" sz="800" cap="all" smtClean="0">
                <a:solidFill>
                  <a:srgbClr val="0B2338"/>
                </a:solidFill>
                <a:latin typeface="Arial"/>
              </a:rPr>
              <a:pPr algn="r">
                <a:defRPr/>
              </a:pPr>
              <a:t>13</a:t>
            </a:fld>
            <a:endParaRPr lang="uk-UA" sz="800" cap="all" dirty="0">
              <a:solidFill>
                <a:srgbClr val="0B2338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B5E6DAF5-F461-ED9E-2D5A-E6CF10AE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6905"/>
            <a:ext cx="11277600" cy="693337"/>
          </a:xfrm>
        </p:spPr>
        <p:txBody>
          <a:bodyPr/>
          <a:lstStyle/>
          <a:p>
            <a:r>
              <a:rPr lang="en-US" dirty="0">
                <a:solidFill>
                  <a:srgbClr val="004282"/>
                </a:solidFill>
              </a:rPr>
              <a:t>Potential financial integrity domain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46ADE50-DA18-821C-8F38-A80442188A34}"/>
              </a:ext>
            </a:extLst>
          </p:cNvPr>
          <p:cNvSpPr txBox="1">
            <a:spLocks/>
          </p:cNvSpPr>
          <p:nvPr/>
        </p:nvSpPr>
        <p:spPr>
          <a:xfrm>
            <a:off x="457200" y="1246909"/>
            <a:ext cx="11277600" cy="500149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Support for information exchanges to counter fraud, waste and abuse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Scope could include contracts, grant management, beneficial ownership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Reuse of community-agreed data models, with local extensions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A technology-neutral data modeling language compatible with ontology formalisms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Knowledge graph representation of exchanged data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Automated conversion between supported serializations (XML to JSON, etc.)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Machine validation of message specifications for NIEM conformance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Machine validation of exchanged data for message specification conformance</a:t>
            </a:r>
          </a:p>
        </p:txBody>
      </p:sp>
    </p:spTree>
    <p:extLst>
      <p:ext uri="{BB962C8B-B14F-4D97-AF65-F5344CB8AC3E}">
        <p14:creationId xmlns:p14="http://schemas.microsoft.com/office/powerpoint/2010/main" val="4139003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329238" y="3189131"/>
            <a:ext cx="11582400" cy="104015"/>
          </a:xfrm>
          <a:custGeom>
            <a:avLst/>
            <a:gdLst/>
            <a:ahLst/>
            <a:cxnLst/>
            <a:rect l="l" t="t" r="r" b="b"/>
            <a:pathLst>
              <a:path w="11582400" h="104139">
                <a:moveTo>
                  <a:pt x="0" y="104012"/>
                </a:moveTo>
                <a:lnTo>
                  <a:pt x="11582400" y="0"/>
                </a:lnTo>
              </a:path>
            </a:pathLst>
          </a:custGeom>
          <a:ln w="381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7626" y="657605"/>
            <a:ext cx="1302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Sponsors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419" y="923600"/>
            <a:ext cx="1224280" cy="145424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lang="en-US" sz="1000" b="1" dirty="0">
                <a:solidFill>
                  <a:srgbClr val="002060"/>
                </a:solidFill>
                <a:latin typeface="Arial"/>
                <a:cs typeface="Arial"/>
              </a:rPr>
              <a:t>Bright Query</a:t>
            </a:r>
            <a:endParaRPr sz="1000" dirty="0">
              <a:solidFill>
                <a:srgbClr val="002060"/>
              </a:solidFill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DHS</a:t>
            </a:r>
            <a:r>
              <a:rPr sz="10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S&amp;T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CJIS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(FBI)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GTRI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NAJIS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IJIS</a:t>
            </a:r>
            <a:endParaRPr lang="en-US"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Senzing</a:t>
            </a: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SEARCH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52678" y="80263"/>
            <a:ext cx="67094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NIEMOpen</a:t>
            </a:r>
            <a:r>
              <a:rPr sz="3200" spc="-5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Current</a:t>
            </a:r>
            <a:r>
              <a:rPr sz="3200" spc="-50" dirty="0">
                <a:solidFill>
                  <a:srgbClr val="17375E"/>
                </a:solidFill>
              </a:rPr>
              <a:t> </a:t>
            </a:r>
            <a:r>
              <a:rPr sz="3200" spc="-10" dirty="0">
                <a:solidFill>
                  <a:srgbClr val="17375E"/>
                </a:solidFill>
              </a:rPr>
              <a:t>S</a:t>
            </a:r>
            <a:r>
              <a:rPr lang="en-US" sz="3200" spc="-10" dirty="0">
                <a:solidFill>
                  <a:srgbClr val="17375E"/>
                </a:solidFill>
              </a:rPr>
              <a:t>ponsors</a:t>
            </a:r>
            <a:endParaRPr sz="3200" dirty="0"/>
          </a:p>
        </p:txBody>
      </p:sp>
      <p:sp>
        <p:nvSpPr>
          <p:cNvPr id="22" name="object 22"/>
          <p:cNvSpPr txBox="1"/>
          <p:nvPr/>
        </p:nvSpPr>
        <p:spPr>
          <a:xfrm>
            <a:off x="7643086" y="141608"/>
            <a:ext cx="3670300" cy="407163"/>
          </a:xfrm>
          <a:prstGeom prst="rect">
            <a:avLst/>
          </a:prstGeom>
          <a:ln w="38100">
            <a:solidFill>
              <a:srgbClr val="548ED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lang="en-US" sz="2400" b="1" spc="-75" dirty="0">
                <a:solidFill>
                  <a:srgbClr val="548ED4"/>
                </a:solidFill>
                <a:latin typeface="Arial"/>
                <a:cs typeface="Arial"/>
              </a:rPr>
              <a:t>8</a:t>
            </a:r>
            <a:r>
              <a:rPr sz="2400" b="1" spc="-7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Sponsors,</a:t>
            </a:r>
            <a:r>
              <a:rPr sz="2400" b="1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lang="en-US" sz="2400" b="1" spc="-8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0249" y="974461"/>
            <a:ext cx="896111" cy="8397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9724" y="941988"/>
            <a:ext cx="950975" cy="876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404723" y="1824511"/>
            <a:ext cx="824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07900" y="1824511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1028" y="2267116"/>
            <a:ext cx="1391412" cy="7802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5286" y="1934471"/>
            <a:ext cx="990600" cy="9906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85" y="807038"/>
            <a:ext cx="2188464" cy="926591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062DE021-19AA-A199-BBFA-85A50614C5D8}"/>
              </a:ext>
            </a:extLst>
          </p:cNvPr>
          <p:cNvSpPr txBox="1">
            <a:spLocks/>
          </p:cNvSpPr>
          <p:nvPr/>
        </p:nvSpPr>
        <p:spPr>
          <a:xfrm>
            <a:off x="565583" y="3244602"/>
            <a:ext cx="58846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solidFill>
                  <a:srgbClr val="0070C0"/>
                </a:solidFill>
              </a:rPr>
              <a:t>Potential Sponsors 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1026" name="Picture 2" descr="Smarter Entity Resolution">
            <a:extLst>
              <a:ext uri="{FF2B5EF4-FFF2-40B4-BE49-F238E27FC236}">
                <a16:creationId xmlns:a16="http://schemas.microsoft.com/office/drawing/2014/main" id="{BED9D55B-6BCC-4B9F-F1C9-AEF9DF47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3584" y="2224195"/>
            <a:ext cx="14152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3ADCDE-7641-1D71-87EA-27988BD9A215}"/>
              </a:ext>
            </a:extLst>
          </p:cNvPr>
          <p:cNvSpPr txBox="1"/>
          <p:nvPr/>
        </p:nvSpPr>
        <p:spPr>
          <a:xfrm>
            <a:off x="3274409" y="3942808"/>
            <a:ext cx="78507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Federal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State and local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Private Sector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Non-governmental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International agencies</a:t>
            </a:r>
            <a:endParaRPr lang="en-US" sz="2400" dirty="0"/>
          </a:p>
        </p:txBody>
      </p:sp>
      <p:pic>
        <p:nvPicPr>
          <p:cNvPr id="4" name="Picture 3" descr="SEARCH-logo (1)">
            <a:extLst>
              <a:ext uri="{FF2B5EF4-FFF2-40B4-BE49-F238E27FC236}">
                <a16:creationId xmlns:a16="http://schemas.microsoft.com/office/drawing/2014/main" id="{ED6DF692-1FDF-A6F9-495C-C4D895C2A63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3086" y="1178423"/>
            <a:ext cx="2184400" cy="431800"/>
          </a:xfrm>
          <a:prstGeom prst="rect">
            <a:avLst/>
          </a:prstGeom>
        </p:spPr>
      </p:pic>
      <p:pic>
        <p:nvPicPr>
          <p:cNvPr id="2" name="Picture 1" descr="BrightQuery">
            <a:extLst>
              <a:ext uri="{FF2B5EF4-FFF2-40B4-BE49-F238E27FC236}">
                <a16:creationId xmlns:a16="http://schemas.microsoft.com/office/drawing/2014/main" id="{17D3A654-79FF-CB4E-91C8-F6200743C15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3630" y="2263066"/>
            <a:ext cx="2359503" cy="6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76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C6746-42C7-9947-DF30-CB6C2919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26C67C-D4D8-9DB6-9F8A-55634DE6AE5B}"/>
              </a:ext>
            </a:extLst>
          </p:cNvPr>
          <p:cNvSpPr txBox="1">
            <a:spLocks/>
          </p:cNvSpPr>
          <p:nvPr/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cap="all">
                <a:solidFill>
                  <a:srgbClr val="004383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05170"/>
                </a:solidFill>
              </a:rPr>
              <a:t>resources</a:t>
            </a:r>
            <a:endParaRPr lang="en-US" dirty="0">
              <a:solidFill>
                <a:srgbClr val="005170"/>
              </a:solidFill>
            </a:endParaRPr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68E54B0B-6752-7856-7478-CA787215EEF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2863" y="3415591"/>
            <a:ext cx="1697314" cy="1271347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07A0C747-152C-6776-94B2-8C404B20BF7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4907" y="416393"/>
            <a:ext cx="2887980" cy="60198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E5C6B42-B1ED-2649-3A0C-42239F95078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6712" y="1067582"/>
            <a:ext cx="2462714" cy="732129"/>
          </a:xfrm>
          <a:prstGeom prst="rect">
            <a:avLst/>
          </a:prstGeom>
        </p:spPr>
      </p:pic>
      <p:pic>
        <p:nvPicPr>
          <p:cNvPr id="10" name="Picture 9">
            <a:hlinkClick r:id="rId8"/>
            <a:extLst>
              <a:ext uri="{FF2B5EF4-FFF2-40B4-BE49-F238E27FC236}">
                <a16:creationId xmlns:a16="http://schemas.microsoft.com/office/drawing/2014/main" id="{65C2C2BB-D4E2-C9BD-6F5E-A5171E32453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8553" y="2732705"/>
            <a:ext cx="1557915" cy="904268"/>
          </a:xfrm>
          <a:prstGeom prst="rect">
            <a:avLst/>
          </a:prstGeom>
        </p:spPr>
      </p:pic>
      <p:pic>
        <p:nvPicPr>
          <p:cNvPr id="11" name="Picture 10">
            <a:hlinkClick r:id="rId10"/>
            <a:extLst>
              <a:ext uri="{FF2B5EF4-FFF2-40B4-BE49-F238E27FC236}">
                <a16:creationId xmlns:a16="http://schemas.microsoft.com/office/drawing/2014/main" id="{CC5271F6-49DC-CACD-0BEB-510C90A6F86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9265" y="4417835"/>
            <a:ext cx="1227272" cy="12272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2F68FE-18C2-1622-6EDC-BD4B7EAB439A}"/>
              </a:ext>
            </a:extLst>
          </p:cNvPr>
          <p:cNvSpPr txBox="1"/>
          <p:nvPr/>
        </p:nvSpPr>
        <p:spPr>
          <a:xfrm>
            <a:off x="8965712" y="533963"/>
            <a:ext cx="262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Follow Us On Twitter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8EA7D-3854-FB11-4905-E79357E4AF16}"/>
              </a:ext>
            </a:extLst>
          </p:cNvPr>
          <p:cNvSpPr txBox="1"/>
          <p:nvPr/>
        </p:nvSpPr>
        <p:spPr>
          <a:xfrm>
            <a:off x="9591780" y="930573"/>
            <a:ext cx="2045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12"/>
              </a:rPr>
              <a:t>https://twitter.com/NIEMconnects?ref_src=twsrc%5Etfw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8DCEE2-7D0F-7F13-E204-BC715EA1C426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5476" y="1737698"/>
            <a:ext cx="677228" cy="6701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40D108-0563-A302-B912-58883E01A1F6}"/>
              </a:ext>
            </a:extLst>
          </p:cNvPr>
          <p:cNvSpPr txBox="1"/>
          <p:nvPr/>
        </p:nvSpPr>
        <p:spPr>
          <a:xfrm>
            <a:off x="9591779" y="1799711"/>
            <a:ext cx="21246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14"/>
              </a:rPr>
              <a:t>https://www.linkedin.com/groups/1903175/profile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A811E8-C148-9EB1-7436-19FBA5EAFF06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0298" y="2680842"/>
            <a:ext cx="1007584" cy="5652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BEDE83-2D82-A955-C62D-22D3749A7C59}"/>
              </a:ext>
            </a:extLst>
          </p:cNvPr>
          <p:cNvSpPr txBox="1"/>
          <p:nvPr/>
        </p:nvSpPr>
        <p:spPr>
          <a:xfrm>
            <a:off x="9591779" y="2755912"/>
            <a:ext cx="20456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16"/>
              </a:rPr>
              <a:t>https://www.youtube.com/channel/UCg9qV22PXLBjG41hc-EwVrQ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hlinkClick r:id="rId17"/>
            <a:extLst>
              <a:ext uri="{FF2B5EF4-FFF2-40B4-BE49-F238E27FC236}">
                <a16:creationId xmlns:a16="http://schemas.microsoft.com/office/drawing/2014/main" id="{A8EB6B57-0011-B080-9113-3DDBAF7CB292}"/>
              </a:ext>
            </a:extLst>
          </p:cNvPr>
          <p:cNvSpPr txBox="1"/>
          <p:nvPr/>
        </p:nvSpPr>
        <p:spPr>
          <a:xfrm>
            <a:off x="8670298" y="5034202"/>
            <a:ext cx="315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NIEM Message Exchange Package Builder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299F5E-E50E-2A7A-8C73-9C83A4C2587B}"/>
              </a:ext>
            </a:extLst>
          </p:cNvPr>
          <p:cNvSpPr txBox="1"/>
          <p:nvPr/>
        </p:nvSpPr>
        <p:spPr>
          <a:xfrm>
            <a:off x="6432863" y="1730488"/>
            <a:ext cx="21533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https://www.niem.gov/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https://niemopen.org/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4EDC68-92D3-FAD1-74E1-C512455F15E8}"/>
              </a:ext>
            </a:extLst>
          </p:cNvPr>
          <p:cNvSpPr txBox="1"/>
          <p:nvPr/>
        </p:nvSpPr>
        <p:spPr>
          <a:xfrm>
            <a:off x="8652032" y="4513209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Restricted Repository-WMAAFIP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6BA9A9-F19E-1616-F162-CE9FD0E87FAA}"/>
              </a:ext>
            </a:extLst>
          </p:cNvPr>
          <p:cNvSpPr txBox="1"/>
          <p:nvPr/>
        </p:nvSpPr>
        <p:spPr>
          <a:xfrm>
            <a:off x="500707" y="2051575"/>
            <a:ext cx="4848571" cy="45720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kumimoji="0" lang="nl-NL" sz="1400" b="1" i="0" u="sng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Git Repos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nl-NL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NIEMOpen</a:t>
            </a: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https://github.com/niemopen/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NTAC TSC 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https://github.com/niemopen/ntac-admin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	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NBAC TSC 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https://github.com/niemopen/nbac-admin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NMO TSC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https://github.com/niemopen/nmo-admin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1143000" lvl="2" indent="-228600" defTabSz="457200">
              <a:spcBef>
                <a:spcPct val="20000"/>
              </a:spcBef>
              <a:buClr>
                <a:srgbClr val="1F497D"/>
              </a:buClr>
              <a:buFont typeface="Arial"/>
              <a:buChar char="•"/>
              <a:defRPr/>
            </a:pPr>
            <a:r>
              <a:rPr lang="en-US" sz="1000" u="sng" dirty="0">
                <a:solidFill>
                  <a:srgbClr val="0563C1"/>
                </a:solidFill>
                <a:cs typeface="Calibri" panose="020F0502020204030204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https://github.com/niemopen/nmo-training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	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NIEMOpen Slack Channel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https://niemopen.slack.com/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Mailing Lists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NIEMOpen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https://lists.oasis-open-projects.org/g/niemopen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PGB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https://lists.oasis-open-projects.org/g/niemopen-pgb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NTAC TSC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https://lists.oasis-open-projects.org/g/niemopen-ntactsc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NBAC TSC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https://lists.oasis-open-projects.org/g/niemopen-nbactsc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NMO TSC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https://lists.oasis-open-projects.org/g/niemopen-nmotsc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FDB0E9-6829-F25B-DD97-0901237A6FE4}"/>
              </a:ext>
            </a:extLst>
          </p:cNvPr>
          <p:cNvSpPr txBox="1"/>
          <p:nvPr/>
        </p:nvSpPr>
        <p:spPr>
          <a:xfrm>
            <a:off x="500707" y="1131029"/>
            <a:ext cx="4996432" cy="461665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Katherine Escobar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31"/>
              </a:rPr>
              <a:t>katherine.b.escobar.civ@mail.mil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7575-203-8631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Beth Smalley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32"/>
              </a:rPr>
              <a:t>beth.l.smalley.civ@mail.mil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757-203-7177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234556-7B8B-5791-C0BE-5F8A452C695B}"/>
              </a:ext>
            </a:extLst>
          </p:cNvPr>
          <p:cNvSpPr txBox="1"/>
          <p:nvPr/>
        </p:nvSpPr>
        <p:spPr>
          <a:xfrm flipH="1">
            <a:off x="8657969" y="3684090"/>
            <a:ext cx="2322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hlinkClick r:id="rId33"/>
              </a:rPr>
              <a:t>MEP Registry  &amp; Repository</a:t>
            </a:r>
            <a:endParaRPr lang="en-US" dirty="0">
              <a:solidFill>
                <a:srgbClr val="1F497D">
                  <a:lumMod val="60000"/>
                  <a:lumOff val="40000"/>
                </a:srgbClr>
              </a:solidFill>
              <a:latin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A8CE60D-B6A0-1C17-058A-636323C16914}"/>
              </a:ext>
            </a:extLst>
          </p:cNvPr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6402" y="936477"/>
            <a:ext cx="756302" cy="70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1783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NEIM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DDF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NIEM_white">
  <a:themeElements>
    <a:clrScheme name="Custom 14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5BB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EB3B6">
                <a:alpha val="50000"/>
              </a:srgbClr>
            </a:gs>
            <a:gs pos="100000">
              <a:schemeClr val="bg1"/>
            </a:gs>
          </a:gsLst>
        </a:gradFill>
        <a:ln>
          <a:solidFill>
            <a:schemeClr val="tx1">
              <a:lumMod val="60000"/>
              <a:lumOff val="40000"/>
            </a:schemeClr>
          </a:solidFill>
        </a:ln>
        <a:effectLst>
          <a:innerShdw blurRad="371475" dir="13500000">
            <a:schemeClr val="bg1"/>
          </a:innerShdw>
        </a:effectLst>
      </a:spPr>
      <a:bodyPr tIns="91440" anchor="t" anchorCtr="0"/>
      <a:lstStyle>
        <a:defPPr algn="ctr">
          <a:lnSpc>
            <a:spcPct val="120000"/>
          </a:lnSpc>
          <a:defRPr b="1" spc="-50" dirty="0">
            <a:solidFill>
              <a:srgbClr val="1F497D"/>
            </a:solidFill>
            <a:cs typeface="Arial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3FE027E793D141A4D0D4B43133F0A9" ma:contentTypeVersion="11" ma:contentTypeDescription="Create a new document." ma:contentTypeScope="" ma:versionID="ef0ff03645a81817586e79cdf8acc990">
  <xsd:schema xmlns:xsd="http://www.w3.org/2001/XMLSchema" xmlns:xs="http://www.w3.org/2001/XMLSchema" xmlns:p="http://schemas.microsoft.com/office/2006/metadata/properties" xmlns:ns3="5774b216-7350-4865-8b28-a80b4a7f0bbf" xmlns:ns4="668b5da2-bb96-4ca8-adfe-f026adba9ac0" targetNamespace="http://schemas.microsoft.com/office/2006/metadata/properties" ma:root="true" ma:fieldsID="f7951dfeee9e00cf5aead93b99a4360e" ns3:_="" ns4:_="">
    <xsd:import namespace="5774b216-7350-4865-8b28-a80b4a7f0bbf"/>
    <xsd:import namespace="668b5da2-bb96-4ca8-adfe-f026adba9a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74b216-7350-4865-8b28-a80b4a7f0b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8b5da2-bb96-4ca8-adfe-f026adba9ac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3DBC4E-DD94-448E-80FB-F46647EDD91A}">
  <ds:schemaRefs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668b5da2-bb96-4ca8-adfe-f026adba9ac0"/>
    <ds:schemaRef ds:uri="5774b216-7350-4865-8b28-a80b4a7f0bbf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0DEB80F-82C0-4107-A718-099EC7520D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74b216-7350-4865-8b28-a80b4a7f0bbf"/>
    <ds:schemaRef ds:uri="668b5da2-bb96-4ca8-adfe-f026adba9a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D6F7FA-A44B-4531-B619-52D10ADDC8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15518</TotalTime>
  <Words>1720</Words>
  <Application>Microsoft Macintosh PowerPoint</Application>
  <PresentationFormat>Widescreen</PresentationFormat>
  <Paragraphs>220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Bahnschrift</vt:lpstr>
      <vt:lpstr>Calibri</vt:lpstr>
      <vt:lpstr>Helvetica LT Std</vt:lpstr>
      <vt:lpstr>Open Sans</vt:lpstr>
      <vt:lpstr>Proxima Nova</vt:lpstr>
      <vt:lpstr>Times</vt:lpstr>
      <vt:lpstr>Wingdings</vt:lpstr>
      <vt:lpstr>2_Office Theme</vt:lpstr>
      <vt:lpstr>1_NIEM_white</vt:lpstr>
      <vt:lpstr>PowerPoint Presentation</vt:lpstr>
      <vt:lpstr>PowerPoint Presentation</vt:lpstr>
      <vt:lpstr>PowerPoint Presentation</vt:lpstr>
      <vt:lpstr>NIEMOpen Model Content</vt:lpstr>
      <vt:lpstr>PowerPoint Presentation</vt:lpstr>
      <vt:lpstr>History &amp; Progress</vt:lpstr>
      <vt:lpstr>next steps</vt:lpstr>
      <vt:lpstr>NTAC Updates for May 2026 NBAC Call</vt:lpstr>
      <vt:lpstr>NTAC Tool Expansion and Ontology Support</vt:lpstr>
      <vt:lpstr>NIEMOpen Tools  Recommendations</vt:lpstr>
      <vt:lpstr>Other NTAC conversation or discussion relevant to NBAC</vt:lpstr>
      <vt:lpstr>Update on Counter-UAS information standards</vt:lpstr>
      <vt:lpstr>Potential financial integrity domain</vt:lpstr>
      <vt:lpstr>NIEMOpen Current Sponsors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National Information Exchange Model (NIEM)</dc:title>
  <dc:subject/>
  <dc:creator>Kish, Jennifer</dc:creator>
  <cp:keywords/>
  <dc:description/>
  <cp:lastModifiedBy>Paul Wormeli</cp:lastModifiedBy>
  <cp:revision>228</cp:revision>
  <dcterms:created xsi:type="dcterms:W3CDTF">2021-02-21T03:42:26Z</dcterms:created>
  <dcterms:modified xsi:type="dcterms:W3CDTF">2026-05-23T17:26:48Z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0x0101008E3FE027E793D141A4D0D4B43133F0A9</vt:lpwstr>
  </property>
</Properties>
</file>